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2402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spc="1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6200" dirty="0"/>
          </a:p>
        </p:txBody>
      </p:sp>
      <p:sp>
        <p:nvSpPr>
          <p:cNvPr id="4" name="Shape 2"/>
          <p:cNvSpPr/>
          <p:nvPr/>
        </p:nvSpPr>
        <p:spPr>
          <a:xfrm>
            <a:off x="5547208" y="3310128"/>
            <a:ext cx="1097280" cy="45720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35661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4A474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PIXEL OF THE EARTH, CLASSIFIED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194560" y="4114800"/>
            <a:ext cx="7802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 U-Net that reads satellite imagery and labels every pixel as urban, agriculture,</a:t>
            </a:r>
            <a:endParaRPr lang="en-US" sz="13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forest, water, rangeland or barren — then reports how much ground each one covers.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PRIYANSHU SINGH   ·   AI / ML ENGINEER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Satellites see everything.
</a:t>
            </a:r>
            <a:pPr indent="0" marL="0">
              <a:lnSpc>
                <a:spcPct val="100000"/>
              </a:lnSpc>
              <a:buNone/>
            </a:pPr>
            <a:r>
              <a:rPr lang="en-US" sz="4000" i="1" spc="150" kern="0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Nobody can look at it all.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051560" y="306324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33756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A474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Terabytes of imagery arrive every day. The questions asked of it are simple — how much forest was lost, where did the city expand, which fields are planted — but answering them by eye does not scale.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A474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MapWise answers them per pixel, automatically, and returns the percentages rather than just a picture.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086600" y="1481328"/>
            <a:ext cx="4069080" cy="3291840"/>
          </a:xfrm>
          <a:prstGeom prst="rect">
            <a:avLst/>
          </a:prstGeom>
          <a:solidFill>
            <a:srgbClr val="F4F1EA"/>
          </a:solidFill>
          <a:ln/>
        </p:spPr>
      </p:sp>
      <p:pic>
        <p:nvPicPr>
          <p:cNvPr id="9" name="Image 0" descr="F:\18_days_18_product\day05_mapwise\assets\figures\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2817" y="2148840"/>
            <a:ext cx="3476645" cy="19202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086600" y="422452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SATELLITE TILE → CLASSIFIED MAP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589520" y="4983480"/>
            <a:ext cx="1143000" cy="114300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589520" y="4983480"/>
            <a:ext cx="1143000" cy="1143000"/>
          </a:xfrm>
          <a:prstGeom prst="arc">
            <a:avLst>
              <a:gd name="adj1" fmla="val 16200000"/>
              <a:gd name="adj2" fmla="val 1270728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89520" y="5326380"/>
            <a:ext cx="114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7360920" y="625449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PIXELS CORRECT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9509760" y="4983480"/>
            <a:ext cx="1143000" cy="114300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509760" y="4983480"/>
            <a:ext cx="1143000" cy="1143000"/>
          </a:xfrm>
          <a:prstGeom prst="arc">
            <a:avLst>
              <a:gd name="adj1" fmla="val 16200000"/>
              <a:gd name="adj2" fmla="val 828360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509760" y="5326380"/>
            <a:ext cx="114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63%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9281160" y="625449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MEAN IoU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How it works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1051560" y="269748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944368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4A474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 U-Net: a pretrained encoder reads the image, a decoder written from scratch rebuilds it as labels.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51560" y="3858768"/>
            <a:ext cx="2234108" cy="41148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4059936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51560" y="457200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51560" y="4901184"/>
            <a:ext cx="22341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 ResNet-34 compresses the tile into a feature pyramid, from fine texture to coarse context.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69716" y="3858768"/>
            <a:ext cx="2234108" cy="41148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13" name="Text 11"/>
          <p:cNvSpPr/>
          <p:nvPr/>
        </p:nvSpPr>
        <p:spPr>
          <a:xfrm>
            <a:off x="3669716" y="4059936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669716" y="457200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DECODE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69716" y="4901184"/>
            <a:ext cx="22341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Four upsampling blocks rebuild full resolution, each re-joining the matching encoder detail.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87872" y="3858768"/>
            <a:ext cx="2234108" cy="41148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87872" y="4059936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287872" y="457200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87872" y="4901184"/>
            <a:ext cx="22341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A 1x1 convolution turns every pixel's features into seven class scores.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06027" y="3858768"/>
            <a:ext cx="2234108" cy="41148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21" name="Text 19"/>
          <p:cNvSpPr/>
          <p:nvPr/>
        </p:nvSpPr>
        <p:spPr>
          <a:xfrm>
            <a:off x="8906027" y="4059936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906027" y="457200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906027" y="4901184"/>
            <a:ext cx="22341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Pixel counts become ground-cover percentages — the number a client actually uses.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51560" y="6236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Skip connections are why the edges stay sharp.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IN THE FIELD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Satellite in, map out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051560" y="269748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pic>
        <p:nvPicPr>
          <p:cNvPr id="7" name="Image 0" descr="F:\18_days_18_product\day05_mapwise\assets\figures\compare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0695" y="2971800"/>
            <a:ext cx="4170306" cy="1531620"/>
          </a:xfrm>
          <a:prstGeom prst="rect">
            <a:avLst/>
          </a:prstGeom>
        </p:spPr>
      </p:pic>
      <p:pic>
        <p:nvPicPr>
          <p:cNvPr id="8" name="Image 1" descr="F:\18_days_18_product\day05_mapwise\assets\figures\compare_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695" y="4686300"/>
            <a:ext cx="4170306" cy="15316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635508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Left: the satellite tile.  Centre: MapWise.  Right: the reference map a human analyst drew.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ACCURACY, CLASS BY CLASS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What it gets right — </a:t>
            </a:r>
            <a:pPr indent="0" marL="0">
              <a:lnSpc>
                <a:spcPct val="100000"/>
              </a:lnSpc>
              <a:buNone/>
            </a:pPr>
            <a:r>
              <a:rPr lang="en-US" sz="3600" i="1" spc="150" kern="0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and what it doesn't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051560" y="274320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Shape 5"/>
          <p:cNvSpPr/>
          <p:nvPr/>
        </p:nvSpPr>
        <p:spPr>
          <a:xfrm>
            <a:off x="1188720" y="3154680"/>
            <a:ext cx="1188720" cy="118872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3154680"/>
            <a:ext cx="1188720" cy="1188720"/>
          </a:xfrm>
          <a:prstGeom prst="arc">
            <a:avLst>
              <a:gd name="adj1" fmla="val 16200000"/>
              <a:gd name="adj2" fmla="val 1271160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3511296"/>
            <a:ext cx="1188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84%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60120" y="44714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AGRICULTURE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971800" y="3154680"/>
            <a:ext cx="1188720" cy="118872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3154680"/>
            <a:ext cx="1188720" cy="1188720"/>
          </a:xfrm>
          <a:prstGeom prst="arc">
            <a:avLst>
              <a:gd name="adj1" fmla="val 16200000"/>
              <a:gd name="adj2" fmla="val 1188000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71800" y="3511296"/>
            <a:ext cx="1188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80%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743200" y="44714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URBAN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3154680"/>
            <a:ext cx="1188720" cy="118872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3154680"/>
            <a:ext cx="1188720" cy="1188720"/>
          </a:xfrm>
          <a:prstGeom prst="arc">
            <a:avLst>
              <a:gd name="adj1" fmla="val 16200000"/>
              <a:gd name="adj2" fmla="val 1057968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511296"/>
            <a:ext cx="1188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74%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526280" y="44714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37960" y="3154680"/>
            <a:ext cx="1188720" cy="1188720"/>
          </a:xfrm>
          <a:prstGeom prst="ellipse">
            <a:avLst/>
          </a:prstGeom>
          <a:solidFill>
            <a:srgbClr val="FBF9F5"/>
          </a:solidFill>
          <a:ln w="15875">
            <a:solidFill>
              <a:srgbClr val="E3DED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154680"/>
            <a:ext cx="1188720" cy="1188720"/>
          </a:xfrm>
          <a:prstGeom prst="arc">
            <a:avLst>
              <a:gd name="adj1" fmla="val 16200000"/>
              <a:gd name="adj2" fmla="val 8156160"/>
            </a:avLst>
          </a:prstGeom>
          <a:noFill/>
          <a:ln w="50800">
            <a:solidFill>
              <a:srgbClr val="F2D0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3511296"/>
            <a:ext cx="118872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63%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309360" y="44714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FOREST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01000" y="3017520"/>
            <a:ext cx="3154680" cy="260604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0" y="318211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The rare classes are hard.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29600" y="3611880"/>
            <a:ext cx="27432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DeepGlobe is heavily imbalanced. Weighted Dice loss lifts rangeland (34%) and barren (45%) into usefulness.</a:t>
            </a:r>
            <a:endParaRPr lang="en-US" sz="1000" dirty="0"/>
          </a:p>
          <a:p>
            <a:pPr indent="0" marL="0">
              <a:lnSpc>
                <a:spcPct val="132000"/>
              </a:lnSpc>
              <a:buNone/>
            </a:pPr>
            <a:endParaRPr lang="en-US" sz="10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'Unknown' is a void label — one pixel in the sampled set — so it sits outside the mean, as PASCAL VOC and Cityscapes do with theirs.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51560" y="580644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84% of all pixels land in the right class</a:t>
            </a:r>
            <a:pPr indent="0" marL="0">
              <a:buNone/>
            </a:pPr>
            <a:r>
              <a:rPr lang="en-US" sz="1050" spc="5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mean IoU 63% across the six labelled classes, a deliberately strict measure   ·   24 epochs in 41 minutes on one T4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How it's built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1051560" y="269748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Shape 5"/>
          <p:cNvSpPr/>
          <p:nvPr/>
        </p:nvSpPr>
        <p:spPr>
          <a:xfrm>
            <a:off x="1874520" y="3977640"/>
            <a:ext cx="8442655" cy="0"/>
          </a:xfrm>
          <a:prstGeom prst="line">
            <a:avLst/>
          </a:prstGeom>
          <a:noFill/>
          <a:ln w="15875">
            <a:solidFill>
              <a:srgbClr val="E3DE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19072" y="3822192"/>
            <a:ext cx="310896" cy="310896"/>
          </a:xfrm>
          <a:prstGeom prst="ellipse">
            <a:avLst/>
          </a:prstGeom>
          <a:solidFill>
            <a:srgbClr val="F2D04B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4690872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2448px tiles, random 512px crops, flips and rotations — aerial imagery has no 'up'.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33290" y="3822192"/>
            <a:ext cx="310896" cy="310896"/>
          </a:xfrm>
          <a:prstGeom prst="ellipse">
            <a:avLst/>
          </a:prstGeom>
          <a:solidFill>
            <a:srgbClr val="F2D04B"/>
          </a:solidFill>
          <a:ln/>
        </p:spPr>
      </p:sp>
      <p:sp>
        <p:nvSpPr>
          <p:cNvPr id="13" name="Text 11"/>
          <p:cNvSpPr/>
          <p:nvPr/>
        </p:nvSpPr>
        <p:spPr>
          <a:xfrm>
            <a:off x="3865778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45738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00018" y="4690872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ResNet-34 encoder, U-Net decoder written from scratch.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47509" y="3822192"/>
            <a:ext cx="310896" cy="310896"/>
          </a:xfrm>
          <a:prstGeom prst="ellipse">
            <a:avLst/>
          </a:prstGeom>
          <a:solidFill>
            <a:srgbClr val="F2D04B"/>
          </a:solidFill>
          <a:ln/>
        </p:spPr>
      </p:sp>
      <p:sp>
        <p:nvSpPr>
          <p:cNvPr id="17" name="Text 15"/>
          <p:cNvSpPr/>
          <p:nvPr/>
        </p:nvSpPr>
        <p:spPr>
          <a:xfrm>
            <a:off x="6679997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59957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4237" y="4690872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Dice + weighted cross-entropy, mixed precision, cosine schedule.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161727" y="3822192"/>
            <a:ext cx="310896" cy="310896"/>
          </a:xfrm>
          <a:prstGeom prst="ellipse">
            <a:avLst/>
          </a:prstGeom>
          <a:solidFill>
            <a:srgbClr val="F2D04B"/>
          </a:solidFill>
          <a:ln/>
        </p:spPr>
      </p:sp>
      <p:sp>
        <p:nvSpPr>
          <p:cNvPr id="21" name="Text 19"/>
          <p:cNvSpPr/>
          <p:nvPr/>
        </p:nvSpPr>
        <p:spPr>
          <a:xfrm>
            <a:off x="9494215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74175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28455" y="4690872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ONNX export, int8 quantisation, inference inside the browser.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6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591495" y="6199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948A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51560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A94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IT'S FOR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1645920"/>
            <a:ext cx="10088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spc="15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The mask is the demo.
</a:t>
            </a:r>
            <a:pPr indent="0" marL="0">
              <a:lnSpc>
                <a:spcPct val="100000"/>
              </a:lnSpc>
              <a:buNone/>
            </a:pPr>
            <a:r>
              <a:rPr lang="en-US" sz="3800" i="1" spc="150" kern="0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The number is the product.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1051560" y="3200400"/>
            <a:ext cx="86868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3611880"/>
            <a:ext cx="3058058" cy="210312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8" name="Shape 6"/>
          <p:cNvSpPr/>
          <p:nvPr/>
        </p:nvSpPr>
        <p:spPr>
          <a:xfrm>
            <a:off x="1051560" y="3611880"/>
            <a:ext cx="3058058" cy="45720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9" name="Text 7"/>
          <p:cNvSpPr/>
          <p:nvPr/>
        </p:nvSpPr>
        <p:spPr>
          <a:xfrm>
            <a:off x="1344168" y="3995928"/>
            <a:ext cx="24728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AGRICULTURE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44168" y="4416552"/>
            <a:ext cx="24728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Planted area per field, season over season, without anyone walking the land.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66818" y="3611880"/>
            <a:ext cx="3058058" cy="210312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2" name="Shape 10"/>
          <p:cNvSpPr/>
          <p:nvPr/>
        </p:nvSpPr>
        <p:spPr>
          <a:xfrm>
            <a:off x="4566818" y="3611880"/>
            <a:ext cx="3058058" cy="45720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13" name="Text 11"/>
          <p:cNvSpPr/>
          <p:nvPr/>
        </p:nvSpPr>
        <p:spPr>
          <a:xfrm>
            <a:off x="4859426" y="3995928"/>
            <a:ext cx="24728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URBAN PLANNING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9426" y="4416552"/>
            <a:ext cx="24728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Where the built-up edge moved, measured rather than estimated.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82077" y="3611880"/>
            <a:ext cx="3058058" cy="2103120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2077" y="3611880"/>
            <a:ext cx="3058058" cy="45720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17" name="Text 15"/>
          <p:cNvSpPr/>
          <p:nvPr/>
        </p:nvSpPr>
        <p:spPr>
          <a:xfrm>
            <a:off x="8374685" y="3995928"/>
            <a:ext cx="24728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&amp; RISK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74685" y="4416552"/>
            <a:ext cx="24728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Deforestation, water extent and wildfire fuel — inputs insurers price 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1965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spc="1000" kern="0" dirty="0">
                <a:solidFill>
                  <a:srgbClr val="23232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 A P W I S 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88136" y="2743200"/>
            <a:ext cx="1005840" cy="50292"/>
          </a:xfrm>
          <a:prstGeom prst="rect">
            <a:avLst/>
          </a:prstGeom>
          <a:solidFill>
            <a:srgbClr val="F2D04B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30175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4A47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See the ground as data.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51560" y="38404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Try it on your own satellite tile. The model runs inside your browser,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so the image never leaves your device.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51560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PRIYANSHU SINGH   ·   AI / ML ENGINEER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51560" y="55961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github.com/Priyanshu-Singh-git/mapwise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092440" y="1783080"/>
            <a:ext cx="2926080" cy="3794760"/>
          </a:xfrm>
          <a:prstGeom prst="rect">
            <a:avLst/>
          </a:prstGeom>
          <a:solidFill>
            <a:srgbClr val="F4F1EA"/>
          </a:solidFill>
          <a:ln/>
        </p:spPr>
      </p:sp>
      <p:pic>
        <p:nvPicPr>
          <p:cNvPr id="10" name="Image 0" descr="F:\18_days_18_product\day05_mapwise\assets\figures\qr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488" y="2167128"/>
            <a:ext cx="2157984" cy="21579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09244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50" kern="0" dirty="0">
                <a:solidFill>
                  <a:srgbClr val="2323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TO TRY IT LIVE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092440" y="47457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948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priyanshu-singh-git.github.io/mapwise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MapWise</dc:title>
  <dc:subject>PptxGenJS Presentation</dc:subject>
  <dc:creator>Priyanshu Singh</dc:creator>
  <cp:lastModifiedBy>Priyanshu Singh</cp:lastModifiedBy>
  <cp:revision>1</cp:revision>
  <dcterms:created xsi:type="dcterms:W3CDTF">2026-10-05T13:04:41Z</dcterms:created>
  <dcterms:modified xsi:type="dcterms:W3CDTF">2026-10-05T13:04:41Z</dcterms:modified>
</cp:coreProperties>
</file>